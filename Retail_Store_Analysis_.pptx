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8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55713" autoAdjust="0"/>
  </p:normalViewPr>
  <p:slideViewPr>
    <p:cSldViewPr snapToGrid="0" snapToObjects="1">
      <p:cViewPr>
        <p:scale>
          <a:sx n="66" d="100"/>
          <a:sy n="66" d="100"/>
        </p:scale>
        <p:origin x="644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56CA2-BF07-4002-A4C9-87BF269256FB}" type="datetimeFigureOut">
              <a:rPr lang="en-AE" smtClean="0"/>
              <a:t>29/03/2026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DD3D1-9BDE-4B97-8CE1-1510963971B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36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DD3D1-9BDE-4B97-8CE1-1510963971BF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9153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1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2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9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7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5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5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2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8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6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4307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3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45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55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58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8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43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RETAIL STORE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A8DB"/>
                </a:solidFill>
              </a:defRPr>
            </a:pPr>
            <a:r>
              <a:t>Data-Driven Insights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t>Objective &amp;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🎯 PURPOSE: Analyze 5,000 retail customer transactions to identify actionable business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📊 SCOPE: Customer behavior, seasonal trends, product performance, pricing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💡 KEY BUSINESS PROBLEMS ADDRESSED: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   • How can we increase customer lifetime value and retention?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   • Which products drive revenue, and how do we optimize the product mix?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   • What seasonal patterns exist, and how should inventory planning adapt?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   • How does customer segmentation (age, gender) influence purchasing behavior?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   • What's the optimal pricing strategy to maximize both volume and margins?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t>Dataset Overview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📈 DATA SOURCES: 5,000 customer transactions from retail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📋 KEY FEATURES (11 Variables):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Customer Demographics: Age, Gender, Customer 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Transaction Details: Purchase Amount, Category, Item Purchased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Temporal Data: Season (Spring, Summer, Autumn, Winter)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Pricing &amp; Promotion: Discount Applied (%)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Customer Metrics: Previous Purchases, Rating (1-5 scale)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Payment Methods: Card, Cash on Delivery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🔧 ANALYSIS APPROACH: Python (Pandas, NumPy, Matplotlib, Seaborn) | Statistical Analysis | Cohort Segmentation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66774"/>
            <a:ext cx="44798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3200" dirty="0"/>
              <a:t>Executive KPI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$1.43M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5,000 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79" y="137160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$285.09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Avg Order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Target: $300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59" y="137160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3.8/5.0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rPr dirty="0"/>
              <a:t>Customer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Target: 4.2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137160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15.0%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Avg Discount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Optimal: 11-15%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8328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Electronics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Top 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62.8% of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79" y="338328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49039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Spring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Peak Season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754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26.4% of annual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59" y="338328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+91%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Repeat Customer Lift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754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vs first-time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3383280"/>
            <a:ext cx="2560320" cy="1645920"/>
          </a:xfrm>
          <a:prstGeom prst="rect">
            <a:avLst/>
          </a:prstGeom>
          <a:solidFill>
            <a:srgbClr val="F4F5F7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</a:defRPr>
            </a:pPr>
            <a:r>
              <a:t>+$400K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</a:defRPr>
            </a:pPr>
            <a:r>
              <a:t>Female Market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754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E9E9E"/>
                </a:solidFill>
              </a:defRPr>
            </a:pPr>
            <a:r>
              <a:t>Opportunity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760C07E-4545-4B58-BE24-EADE132C5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29" y="5384664"/>
            <a:ext cx="10541542" cy="1206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7439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3200" dirty="0"/>
              <a:t>KEY INSIGHT #1: Revenue Distribution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💰 TOTAL REVENUE GENERATED: $1,425,453 across 5,000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📊 CATEGORY PERFORMANCE (80/20 Rule):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Electronics: $895,492 (62.8%) — PROFIT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Footwear: $141,142 (9.9%) — Growth Opportunity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Sports: $115,598 (8.1%) — Emerging Category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Others (6 categories): $273,221 (19.2%) — Support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⚠️ BUSINESS IMPLICATION: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Heavy reliance on single category (Electronics) = Risk &amp; Opportunity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✅ RECOMMENDATION: Protect Electronics leadership while scaling Footwear to 15% revenue share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0940C-17A6-4D9F-85EB-217858264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619" y="1421145"/>
            <a:ext cx="5266060" cy="38166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607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3200" dirty="0"/>
              <a:t>KEY INSIGHT #2: Seasonal Revenue Patterns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🌍 SEASONAL BREAKDOWN (Quarterly Revenue Distribution):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🌸 SPRING: $376K (26.4%) — Peak Season — Perfect for promotions &amp; new launches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☀️ SUMMER: $350K (24.6%) — Below average — Opportunity to boost with campaigns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🍂 AUTUMN: $343K (24.1%) — Lowest despite shopping season — Investigate &amp; optimize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❄️ WINTER: $355K (24.9%) — Holiday boost — Premium positioning opportunity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💡 STRATEGIC INSIGHT: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Spring commands 26.4% of revenue — plan major campaigns 8-12 weeks in advance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✅ RECOMMENDATION: Implement seasonal inventory management, adjust marketing spend by season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BBAFE-47A1-4DAF-A3F9-7D101E14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611" y="1087696"/>
            <a:ext cx="3299881" cy="3445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1280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2800" dirty="0"/>
              <a:t>KEY INSIGHT #3: Customer Loyalty Drives Revenue (+91% Increase)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👥 LOYALTY EFFECT - Average Spend by Purchase History: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🔵 New Customers (0 previous purchases): $287 baseline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🟢 Repeat Customers (5-10 previous): $310 average (+8% vs baseline)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🟡 Loyal Customers (13+ previous): $549 average (+91% vs baseline) ⭐⭐⭐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💰 LIFETIME VALUE ANALYSIS: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Retention cost per customer: $50-100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Additional lifetime value per loyal customer: $5,000+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ROI of loyalty program: 6.2x cost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✅ KEY TAKEAWAY: Focus 60% of budget on retention, not acquisition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523471-857F-44C8-97B5-DCCBB8C5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808" y="2849078"/>
            <a:ext cx="5179115" cy="34008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637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2400" dirty="0"/>
              <a:t>KEY INSIGHT #4: Untapped Female Market Opportunity (+$400K)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4585"/>
            <a:ext cx="1078992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👨👩 REVENUE SPLIT - Current State (Unbalanced):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👨 Male Customers: $1,149,714 (80.7%) — Dominant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👩 Female Customers: $275,739 (19.3%) — UNDERSERVED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💰 PURCHASING POWER ANALYSIS: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Male Avg Order Value: $310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Female Avg Order Value: $220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Gap: 41% lower female spending despite similar transaction frequency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🎯 MARKET OPPORTUNITY: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By aligning female AOV to male levels = +$400K annual revenue potential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✅ RECOMMENDED ACTIONS: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Launch female-targeted product lines (accessories, beauty, apparel)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Create gender-specific marketing campaigns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Develop female-focused loyalty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43257-DF01-4482-B21B-79BBA2DB7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97" y="2122371"/>
            <a:ext cx="4622159" cy="3255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C8E1B-EF5A-4D9D-A6CF-2F1C83DF2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80" y="304491"/>
            <a:ext cx="5150115" cy="312451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D19A4F-76E1-4CFC-B3C7-C066C931E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32336"/>
              </p:ext>
            </p:extLst>
          </p:nvPr>
        </p:nvGraphicFramePr>
        <p:xfrm>
          <a:off x="7785716" y="807869"/>
          <a:ext cx="3610596" cy="2011680"/>
        </p:xfrm>
        <a:graphic>
          <a:graphicData uri="http://schemas.openxmlformats.org/drawingml/2006/table">
            <a:tbl>
              <a:tblPr/>
              <a:tblGrid>
                <a:gridCol w="1805298">
                  <a:extLst>
                    <a:ext uri="{9D8B030D-6E8A-4147-A177-3AD203B41FA5}">
                      <a16:colId xmlns:a16="http://schemas.microsoft.com/office/drawing/2014/main" val="892260938"/>
                    </a:ext>
                  </a:extLst>
                </a:gridCol>
                <a:gridCol w="1805298">
                  <a:extLst>
                    <a:ext uri="{9D8B030D-6E8A-4147-A177-3AD203B41FA5}">
                      <a16:colId xmlns:a16="http://schemas.microsoft.com/office/drawing/2014/main" val="2269692264"/>
                    </a:ext>
                  </a:extLst>
                </a:gridCol>
              </a:tblGrid>
              <a:tr h="204782"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32865"/>
                  </a:ext>
                </a:extLst>
              </a:tr>
              <a:tr h="473393">
                <a:tc>
                  <a:txBody>
                    <a:bodyPr/>
                    <a:lstStyle/>
                    <a:p>
                      <a:r>
                        <a:rPr lang="en-AE"/>
                        <a:t>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positive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611700"/>
                  </a:ext>
                </a:extLst>
              </a:tr>
              <a:tr h="331375">
                <a:tc>
                  <a:txBody>
                    <a:bodyPr/>
                    <a:lstStyle/>
                    <a:p>
                      <a:r>
                        <a:rPr lang="en-AE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121804"/>
                  </a:ext>
                </a:extLst>
              </a:tr>
              <a:tr h="473393">
                <a:tc>
                  <a:txBody>
                    <a:bodyPr/>
                    <a:lstStyle/>
                    <a:p>
                      <a:r>
                        <a:rPr lang="en-AE" dirty="0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negative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9923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8508B2-2513-4860-A5E2-B947C2CC2A6A}"/>
              </a:ext>
            </a:extLst>
          </p:cNvPr>
          <p:cNvSpPr txBox="1"/>
          <p:nvPr/>
        </p:nvSpPr>
        <p:spPr>
          <a:xfrm>
            <a:off x="972152" y="3565328"/>
            <a:ext cx="67184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💡 Key Insights </a:t>
            </a:r>
          </a:p>
          <a:p>
            <a:r>
              <a:rPr lang="en-US" b="1" dirty="0"/>
              <a:t>🔥 1. Strong Relationship</a:t>
            </a:r>
          </a:p>
          <a:p>
            <a:r>
              <a:rPr lang="en-US" dirty="0"/>
              <a:t>👉 </a:t>
            </a:r>
            <a:r>
              <a:rPr lang="en-US" b="1" dirty="0"/>
              <a:t>Discount ↔ Previous Purchases = 0.73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positive correlation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who purchased more before tend to get/use more discounts </a:t>
            </a:r>
          </a:p>
          <a:p>
            <a:r>
              <a:rPr lang="en-US" dirty="0"/>
              <a:t>📌 </a:t>
            </a:r>
            <a:r>
              <a:rPr lang="en-US" b="1" dirty="0"/>
              <a:t>Business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Loyal customers are likely receiving or responding to discounts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for </a:t>
            </a:r>
            <a:r>
              <a:rPr lang="en-US" b="1" dirty="0"/>
              <a:t>retention strategy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712E5-A638-43DF-BE20-D510550D1165}"/>
              </a:ext>
            </a:extLst>
          </p:cNvPr>
          <p:cNvSpPr txBox="1"/>
          <p:nvPr/>
        </p:nvSpPr>
        <p:spPr>
          <a:xfrm>
            <a:off x="7334450" y="3676654"/>
            <a:ext cx="42278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⚖️ 2. Weak Relationships</a:t>
            </a:r>
          </a:p>
          <a:p>
            <a:r>
              <a:rPr lang="en-US" dirty="0"/>
              <a:t>👉 </a:t>
            </a:r>
            <a:r>
              <a:rPr lang="en-US" b="1" dirty="0"/>
              <a:t>Rating ↔ Discount = 0.16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Rating ↔ Previous Purchases = 0.12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weak positive relationship </a:t>
            </a:r>
          </a:p>
          <a:p>
            <a:r>
              <a:rPr lang="en-US" dirty="0"/>
              <a:t>📌 </a:t>
            </a:r>
            <a:r>
              <a:rPr lang="en-US" b="1" dirty="0"/>
              <a:t>Meaning: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Discounts slightly improve ratings, but not strongly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satisfaction depends on other factors</a:t>
            </a:r>
          </a:p>
        </p:txBody>
      </p:sp>
    </p:spTree>
    <p:extLst>
      <p:ext uri="{BB962C8B-B14F-4D97-AF65-F5344CB8AC3E}">
        <p14:creationId xmlns:p14="http://schemas.microsoft.com/office/powerpoint/2010/main" val="311287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151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2800" dirty="0"/>
              <a:t>KEY INSIGHT #5: Discount Sweet Spot = 11-15% (Not Heavy Discounting)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💸 AVERAGE PURCHASE AMOUNT BY DISCOUNT RANGE: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❌ 0-5% discount: $264 avg — Leaves revenue on table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⚠️ 6-10% discount: $281 avg — Suboptimal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✅ 11-15% discount: $292 avg — OPTIMAL ZONE (Highest revenue!)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⚠️ 16-20% discount: $286 avg — Acceptable but declining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❌ 21%+ discount: Margin erosion without volume gains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📊 CRITICAL FINDING: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Heavy discounting does NOT drive higher purchase amounts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Quality &amp; right pricing &gt; Deep discounts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✅ IMPACT: Restructuring discounts to 11-15% sweet spot = +$85K annual revenue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EF594E-F720-4D08-B8E2-B510EA9B6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620" y="1362345"/>
            <a:ext cx="3899100" cy="273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3129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3200" dirty="0"/>
              <a:t>Strategic Trends &amp; Market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0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📈 UPWARD TRENDS: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Repeat customer spending grows consistently with purchase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Premium product categories (Electronics) command consistent margins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Seasonal patterns stable, enabling predictive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📉 DOWNWARD/RISKY TRENDS: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⚠️ Female customer segment underperforming (19.3% vs potential 30%)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⚠️ Secondary categories (Sports, Accessories) below growth potential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⚠️ Heavy discounting erodes margins without volume compensation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💡 MARKET DYNAMICS: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Card payment dominance (80.2%) = digital transformation opportunity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Age 36-45 segment = prime spending demographic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• Loyalty correlation strong (0.73 with discount receptiveness)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8BD2C-F961-41BD-BD1D-F5E0FE77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131" y="612427"/>
            <a:ext cx="3132214" cy="3085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15611B-ED05-4D7B-BDB9-A43FF2CA3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876" y="3982128"/>
            <a:ext cx="4174724" cy="27387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69781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rPr sz="2800" dirty="0"/>
              <a:t>Data-Driven Recommendations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🎯 IMMEDIATE ACTIONS (Q1 - 30 days):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1. Launch Loyalty Program — Target: +25-30% repeat purchase rate (ROI: 6.2x)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2. Optimize Discounts to 11-15% — Target: +$85K annual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3. Create Female-Targeted Campaigns — Target: +$400K annual opportunity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📋 SHORT-TERM INITIATIVES (Q1-Q2 - 60-90 days):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4. Seasonal Inventory Planning — Align stock to seasonal demand (save 20-30% holding costs)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5. Category Growth Programs — Develop Footwear from 10% to 15% revenue share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6. Demographic Segmentation — Create age-based marketing (20-35, 36-55, 56+)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🚀 LONG-TERM STRATEGY (Q2-Q4):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7. Build Predictive Analytics Dashboard — Real-time KPI tracking by segment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8. A/B Test Pricing Strategies — Validate sweet spot across categories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156"/>
                </a:solidFill>
              </a:defRPr>
            </a:pPr>
            <a:r>
              <a:t>Conclusion &amp; Expected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📊 KEY FINDINGS SUMMARY: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$1.43M revenue base with significant optimization potential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Customer loyalty is 3x more profitable than acquisition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Seasonal patterns enable strategic planning and cost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Product category concentration = risk AND opportunity for growth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✓ Female market gap = $400K+ untapped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💰 PROJECTED FINANCIAL IMPACT: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→ Revenue Growth: +$200-300K annually (15-20% increase)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→ Margin Improvement: +2-3 percentage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→ Customer Retention: +25-30% year-over-year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rPr dirty="0"/>
              <a:t>   → Total Value Creation: ~$500K+ annually when combined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1F35ECC-426A-479A-9619-0E57ED687D88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154</TotalTime>
  <Words>1370</Words>
  <Application>Microsoft Office PowerPoint</Application>
  <PresentationFormat>Widescreen</PresentationFormat>
  <Paragraphs>168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saranya cj</dc:creator>
  <cp:keywords/>
  <dc:description>generated using python-pptx</dc:description>
  <cp:lastModifiedBy>saranya c j</cp:lastModifiedBy>
  <cp:revision>9</cp:revision>
  <dcterms:created xsi:type="dcterms:W3CDTF">2013-01-27T09:14:16Z</dcterms:created>
  <dcterms:modified xsi:type="dcterms:W3CDTF">2026-03-29T18:35:17Z</dcterms:modified>
  <cp:category/>
</cp:coreProperties>
</file>